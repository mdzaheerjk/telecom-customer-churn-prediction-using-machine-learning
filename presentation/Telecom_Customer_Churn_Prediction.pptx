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863840" y="1097280"/>
            <a:ext cx="1554480" cy="73152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418320" y="1005840"/>
            <a:ext cx="1280160" cy="82296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7406640" y="1097280"/>
            <a:ext cx="457200" cy="164592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06640" y="2743200"/>
            <a:ext cx="1737360" cy="91440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144000" y="2926080"/>
            <a:ext cx="1554480" cy="73152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2926080"/>
            <a:ext cx="457200" cy="164592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3657600"/>
            <a:ext cx="914400" cy="1280160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90688" y="1024127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45168" y="17556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25328" y="9326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33488" y="26700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70848" y="35844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25328" y="2852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82528" y="44988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6448" y="486460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"/>
            <a:ext cx="6217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ENTERPRISE MACHINE LEARNING • CUSTOMER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417320"/>
            <a:ext cx="667512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ptos"/>
              </a:rPr>
              <a:t>Telecom Customer
Churn Prediction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63240"/>
            <a:ext cx="6126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ptos"/>
              </a:rPr>
              <a:t>Proactive retention analytics powered by production-grade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77639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ptos"/>
              </a:rPr>
              <a:t>Presenter: [Your Name]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2057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10912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BASE-RATE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330952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Aptos"/>
              </a:rPr>
              <a:t>73.4 / 26.6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4892040"/>
            <a:ext cx="2057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36392" y="5010912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CHURN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5330952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Aptos"/>
              </a:rPr>
              <a:t>~82%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4892040"/>
            <a:ext cx="2057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5010912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INFERENCE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5330952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Aptos"/>
              </a:rPr>
              <a:t>&lt;20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943600"/>
            <a:ext cx="3108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Aptos"/>
              </a:rPr>
              <a:t>PREDICT • PRIORITIZE • RETAIN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01 • BUSINESS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Why churn is an existential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9377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Aptos"/>
              </a:rPr>
              <a:t>Reactive retention loses customers before teams can intervene.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8463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ptos"/>
              </a:rPr>
              <a:t>The operating goal is not simply to predict churn. It is to identify customers whose retention is both achievable and economically worthwhile.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557784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810512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Aptos"/>
              </a:rPr>
              <a:t>EXPECTED VALUE OF AN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12848"/>
            <a:ext cx="49834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Aptos"/>
              </a:rPr>
              <a:t>P(Churn) × [P(Accept) × (CLV saved − Offer cost)]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154680"/>
            <a:ext cx="2651760" cy="1417320"/>
          </a:xfrm>
          <a:prstGeom prst="roundRect">
            <a:avLst/>
          </a:prstGeom>
          <a:solidFill>
            <a:srgbClr val="37232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Aptos"/>
              </a:rPr>
              <a:t>FALSE 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21945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Miss a churner → lost lifetime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154680"/>
            <a:ext cx="265176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3832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ptos"/>
              </a:rPr>
              <a:t>FALSE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749039"/>
            <a:ext cx="21945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Discount loyal customer → margin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Aptos"/>
              </a:rPr>
              <a:t>Decision principle: choose the threshold using intervention capacity and business costs—not accuracy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02 •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What drives customers to leave?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3756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Aptos"/>
              </a:rPr>
              <a:t>CONTRACT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3160"/>
            <a:ext cx="29260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Aptos"/>
              </a:rPr>
              <a:t>Month-to-month: 42.7% churn
Two-year: 2.8%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703320"/>
            <a:ext cx="28803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ptos"/>
              </a:rPr>
              <a:t>Long-term commitment is a strong retention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166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EDA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3756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901952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ptos"/>
              </a:rPr>
              <a:t>SERVICE &amp;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23160"/>
            <a:ext cx="29260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Aptos"/>
              </a:rPr>
              <a:t>Fiber optic: 41.9% churn
DSL: 19.0%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703320"/>
            <a:ext cx="28803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ptos"/>
              </a:rPr>
              <a:t>Review support and security coverage for fiber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5166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EDA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45920"/>
            <a:ext cx="333756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01952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PAYMENT FRICTION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423160"/>
            <a:ext cx="29260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Aptos"/>
              </a:rPr>
              <a:t>Electronic check: 45.3% churn
Auto-pay: ~15.5%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703320"/>
            <a:ext cx="28803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ptos"/>
              </a:rPr>
              <a:t>Reduce billing friction and encourage convenient payment.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5166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EDA SIGNAL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03 •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Data hygiene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14600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103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Convert TotalCharges to numeric; handle 11 blank-string records associated with tenure 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30175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514600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51760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46120"/>
            <a:ext cx="2103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Create six tenure lifecycle cohorts to capture non-linear onboarding and retention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30175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74519"/>
            <a:ext cx="2514600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103120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51760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246120"/>
            <a:ext cx="2103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Apply one-hot encoding with drop_first=True to reduce redundant dummy columns.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3" y="30175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874519"/>
            <a:ext cx="2514600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2103120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651760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Align &amp;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3246120"/>
            <a:ext cx="2103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Align inference inputs to the 34-column template and apply StandardScaler.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Production rule: fit preprocessing on training data only, then reuse the exact fitted transforms at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04 • IMBALANCE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The class-imbalance bake-off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Aptos"/>
              </a:rPr>
              <a:t>A model predicting “No Churn” for everyone can score 73.4% accuracy while detecting 0% of churners.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274320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21992"/>
            <a:ext cx="25237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7872" y="2148840"/>
            <a:ext cx="132588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21992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6904" y="2148840"/>
            <a:ext cx="132588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221992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2148840"/>
            <a:ext cx="51206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221992"/>
            <a:ext cx="4901183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Production trade-off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7063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843784"/>
            <a:ext cx="25237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Unweighted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7872" y="2770632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843784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0.53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6904" y="2770632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2843784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2770632"/>
            <a:ext cx="51206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843784"/>
            <a:ext cx="4901183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Simple; weak minority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92424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465576"/>
            <a:ext cx="25237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SMOTE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2" y="3392424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465576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6904" y="3392424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3465576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0.74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5936" y="3392424"/>
            <a:ext cx="51206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465576"/>
            <a:ext cx="4901183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Synthetic samples; added 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14216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87368"/>
            <a:ext cx="25237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SMOTEENN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7872" y="4014216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087368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0.61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46904" y="4014216"/>
            <a:ext cx="13258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56632" y="4087368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0.79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45936" y="4014216"/>
            <a:ext cx="51206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4087368"/>
            <a:ext cx="4901183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Aptos"/>
              </a:rPr>
              <a:t>Noise cleaning; slower training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636008"/>
            <a:ext cx="2743200" cy="530352"/>
          </a:xfrm>
          <a:prstGeom prst="rect">
            <a:avLst/>
          </a:prstGeom>
          <a:solidFill>
            <a:srgbClr val="142B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709160"/>
            <a:ext cx="252374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Aptos"/>
              </a:rPr>
              <a:t>Cost-sensitive weighting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47872" y="4636008"/>
            <a:ext cx="1325880" cy="530352"/>
          </a:xfrm>
          <a:prstGeom prst="rect">
            <a:avLst/>
          </a:prstGeom>
          <a:solidFill>
            <a:srgbClr val="142B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709160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Aptos"/>
              </a:rPr>
              <a:t>0.64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46904" y="4636008"/>
            <a:ext cx="1325880" cy="530352"/>
          </a:xfrm>
          <a:prstGeom prst="rect">
            <a:avLst/>
          </a:prstGeom>
          <a:solidFill>
            <a:srgbClr val="142B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56632" y="4709160"/>
            <a:ext cx="1106424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Aptos"/>
              </a:rPr>
              <a:t>0.82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4636008"/>
            <a:ext cx="5120640" cy="530352"/>
          </a:xfrm>
          <a:prstGeom prst="rect">
            <a:avLst/>
          </a:prstGeom>
          <a:solidFill>
            <a:srgbClr val="142B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4709160"/>
            <a:ext cx="4901183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Aptos"/>
              </a:rPr>
              <a:t>No synthetic rows; native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Aptos"/>
              </a:rPr>
              <a:t>Reported best: sample weighting (positive-class weight ≈ 2.76). Validate against the actual deployment cost curve.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05 •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Benchmark models, then optimize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657600" cy="4160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MODELS BENCHMARKED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0175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Decision Tree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Random Forest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AdaBoost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CatBoost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LightGBM</a:t>
            </a:r>
          </a:p>
          <a:p>
            <a:pPr>
              <a:spcAft>
                <a:spcPts val="7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XGBoost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68122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901952"/>
            <a:ext cx="6217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OPTUNA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31720"/>
            <a:ext cx="61264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100 trials • 5-fold stratified CV • minority-class F1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926080"/>
            <a:ext cx="6126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Aptos"/>
              </a:rPr>
              <a:t>Search space: learning rate, depth, subsampling, regularization and class weighting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794760"/>
            <a:ext cx="324612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04164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TUNED 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34840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F1 0.634  |  Recall 0.79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794760"/>
            <a:ext cx="3337560" cy="1508760"/>
          </a:xfrm>
          <a:prstGeom prst="roundRect">
            <a:avLst/>
          </a:prstGeom>
          <a:solidFill>
            <a:srgbClr val="142B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04164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COST-WEIGHTED ADABOOST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34840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F1 0.641  |  Recall 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5596128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ptos"/>
              </a:rPr>
              <a:t>Early stopping: validation log-loss plateau for 15 iterations (as specified).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06 •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Why AdaBoost was selected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3756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8346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Metric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7889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Reported F1 ≈ 0.64 and recall ≈ 0.82, competitive with more complex boosters.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33756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084831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28346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Operational simplicity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337560"/>
            <a:ext cx="27889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Scikit-learn-native deployment reduces dependency and packaging complexity.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33756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84831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651760"/>
            <a:ext cx="28346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Low serving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37560"/>
            <a:ext cx="27889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Shallow tree ensembles are typically fast; benchmark latency in the target container.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Aptos"/>
              </a:rPr>
              <a:t>Selection principle: choose the model that meets business targets with the lowest sustainable operational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07 • SERVING &amp;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From prediction to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057400" cy="24688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1737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Aptos"/>
              </a:rPr>
              <a:t>Customer
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17373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Aptos"/>
              </a:rPr>
              <a:t>Demographics
Services
Contract &amp;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834640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011680"/>
            <a:ext cx="2057400" cy="2468880"/>
          </a:xfrm>
          <a:prstGeom prst="roundRect">
            <a:avLst/>
          </a:prstGeom>
          <a:solidFill>
            <a:srgbClr val="142B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286000"/>
            <a:ext cx="1737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Aptos"/>
              </a:rPr>
              <a:t>Model
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154680"/>
            <a:ext cx="17373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Aptos"/>
              </a:rPr>
              <a:t>Preprocessing
Churn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834640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011680"/>
            <a:ext cx="2057400" cy="24688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2286000"/>
            <a:ext cx="1737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Aptos"/>
              </a:rPr>
              <a:t>Risk
stratification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3154680"/>
            <a:ext cx="17373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Aptos"/>
              </a:rPr>
              <a:t>Low &lt;35%
Medium 35–60%
High ≥60%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34640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011680"/>
            <a:ext cx="2057400" cy="2468880"/>
          </a:xfrm>
          <a:prstGeom prst="roundRect">
            <a:avLst/>
          </a:prstGeom>
          <a:solidFill>
            <a:srgbClr val="142B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286000"/>
            <a:ext cx="17373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Aptos"/>
              </a:rPr>
              <a:t>Retention
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3154680"/>
            <a:ext cx="17373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Aptos"/>
              </a:rPr>
              <a:t>Lifecycle touch
Support check
Personalized offer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Explainability card example: “Month-to-month contract + fiber service + no tech support.”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ptos"/>
              </a:rPr>
              <a:t>Risk bands are illustrative operating thresholds; tune them to campaign capacity and validated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08 • DOCKER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Containerization &amp; 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4983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4389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NON-ROOT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Run as dedicated appuser (UID 10001).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4983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4389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SLIM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5915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Use python:3.11-slim-bookworm where dependencies allow.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66160"/>
            <a:ext cx="4983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67328"/>
            <a:ext cx="4389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LAYER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Install dependencies before copying frequently changed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66160"/>
            <a:ext cx="4983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67328"/>
            <a:ext cx="4389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HEALTH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8795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Probe Streamlit’s /_stcore/health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Aptos"/>
              </a:rPr>
              <a:t>Also add .dockerignore, pin dependencies, scan images, and avoid baking secrets into the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09 • DEPLOYMENT BLUEPRINTS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Multi-cloud deployment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8803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STREAMLIT COMMUNITY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FASTEST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83280"/>
            <a:ext cx="28346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GitHub-linked deployment; managed hosting and secrets 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337560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103120"/>
            <a:ext cx="28803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AWS EC2 +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880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MORE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383280"/>
            <a:ext cx="28346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VM-based serving with reverse proxy, process supervision and TLS.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337560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103120"/>
            <a:ext cx="28803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AWS ECS FARGATE + ALB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880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MANAGED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383280"/>
            <a:ext cx="28346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Aptos"/>
              </a:rPr>
              <a:t>Container tasks behind an Application Load Balancer; configure scaling and health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ptos"/>
              </a:rPr>
              <a:t>Choose the deployment target based on reliability, traffic, security requirements, and operating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10 • MLOPS CONTROL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Observability &amp; drift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480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MONITOR INPUT 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43484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Population Stability Index (PSI)
Wasserstein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4348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A PSI threshold above 0.25 is a proposed alert rule in the source prompt—not a universal standard. Calibrate it to baseline variation.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12064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480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ptos"/>
              </a:rPr>
              <a:t>HANDLE DELAYED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43484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8FAFC"/>
                </a:solidFill>
                <a:latin typeface="Aptos"/>
              </a:rPr>
              <a:t>Churn labels may arrive
30–90 days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4348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Track performance once outcomes mature. Use drift as an early warning, not proof that model quality has degraded.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Experiment design: keep a randomized 5–10% control group to estimate incremental retention lift.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ptos"/>
              </a:rPr>
              <a:t>11 • VALUE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Business impact &amp; engineering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ptos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Aptos"/>
              </a:rPr>
              <a:t>TELECOM CUSTOMER CHURN • MACHINE LEARNING &amp;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92608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25968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CHURN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39112"/>
            <a:ext cx="259689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0B981"/>
                </a:solidFill>
                <a:latin typeface="Aptos"/>
              </a:rPr>
              <a:t>~82%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00200"/>
            <a:ext cx="292608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719072"/>
            <a:ext cx="25968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ARR PROTECTED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2039112"/>
            <a:ext cx="259689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B981"/>
                </a:solidFill>
                <a:latin typeface="Aptos"/>
              </a:rPr>
              <a:t>$420k+*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600200"/>
            <a:ext cx="292608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719072"/>
            <a:ext cx="25968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Aptos"/>
              </a:rPr>
              <a:t>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039112"/>
            <a:ext cx="259689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0B981"/>
                </a:solidFill>
                <a:latin typeface="Aptos"/>
              </a:rPr>
              <a:t>50,000*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9966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Aptos"/>
              </a:rPr>
              <a:t>*Illustrative estimates from the supplied prompt; validate with actual unit economics and experiment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333756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3075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Production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28803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Serialize the full preprocessing + model pipeline; automate CI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40"/>
            <a:ext cx="333756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730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3075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Serving &amp;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251960"/>
            <a:ext cx="28803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Move UI/API boundary to FastAPI; evaluate ONNX Runtime and add MLflow registry.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520440"/>
            <a:ext cx="333756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730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3075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Causal targeting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251960"/>
            <a:ext cx="28803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Explore uplift modeling to target customers most likely to respond to offers.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Turn billing signals into measurable retention outcomes—with controlled experiments, not prediction scores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